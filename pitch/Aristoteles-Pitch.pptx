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Abrimos con la promesa: Aristóteles no es otro chatbot. Toma documentos que ya existen —cotizaciones, contratos y garantías— y los convierte en una decisión que se puede revisar, citar y defender. El resumen visual de la derecha es un ejemplo sintético; el usuario conserva la decisión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que falte información. Es que la información relevante está fragmentada y cada comparación se vuelve artesanal. Eso crea cuatro fallos: criterios inconsistentes, cláusulas omitidas, recomendaciones difíciles de defender y datos faltantes que pasan inadvertidos.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oportunidad es grande, pero no hace falta exagerarla. La OCDE reporta que la contratación pública representó en promedio 17.4% del gasto público total y 6.6% del PIB en América Latina y el Caribe en 2021, entre países con datos disponibles. El Banco Mundial estima US$9,5 billones —escala larga— en contratos públicos globales por año, con una estimación publicada en 2020. Aristóteles entra por un punto de entrada claro: comparar proveedores con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solución tiene tres movimientos. Primero, prepara la evidencia: extracción, OCR, segmentación y recuperación. Después, hace explícitos los hechos, las citas, los riesgos y lo que falta. Finalmente, compara bajo criterios confirmados por el usuario y entrega una recomendación que siempre puede terminar en revisión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está la diferencia técnica. No proponemos un modelo gigante con una instrucción enorme. Proponemos cinco agentes especializados y herramientas deterministas. El Planner propone el plan; Document prepara; Research extrae; Comparison aplica los pesos; Decision recomienda o se abstiene. Y el humano confirma los criterios y conserva el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confianza es una rúbrica, no una sensación del modelo: 40% cobertura, 30% citas, 20% consistencia y 10% calidad de extracción. Cada hecho se enlaza con documento, página y fragmento. Si falta un dato crítico o aparece una contradicción, la confianza baja y el sistema puede pedir revisión en vez de fingir certeza.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una demo sintética, no un resultado de producción. Los tres proveedores se evalúan con los mismos pesos. Nexus obtiene un puntaje comparativo de 84 sobre 100; no debe confundirse con la confianza, que se calcula con una rúbrica separada de cobertura, citas, consistencia y calidad de extracción. Orbit queda penalizado porque su plazo no está confirmado.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vamos a inventar impacto antes de medirlo. El piloto debe demostrar calidad: precisión de citas, cobertura de criterios, cero afirmaciones sin respaldo y aislamiento entre usuarios. También mediremos tiempo de revisión y cuándo el sistema sabe abstenerse. El objetivo es que cada mejora tenga una métrica y no solo una demo bonita.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la diferencia: no queremos automatizar la responsabilidad; queremos hacerla más rigurosa. Aristóteles prepara la evidencia, muestra los riesgos y deja al humano con una decisión que puede explicar. El roadmap ya está definido: fundación, ingesta, orquestación, decisión y entrega.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BITAL_BASE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4440" y="-1051560"/>
            <a:ext cx="4892040" cy="2971800"/>
          </a:xfrm>
          <a:prstGeom prst="ellipse">
            <a:avLst/>
          </a:prstGeom>
          <a:solidFill>
            <a:srgbClr val="3B82F6">
              <a:alpha val="4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4754880"/>
            <a:ext cx="4846320" cy="2926080"/>
          </a:xfrm>
          <a:prstGeom prst="ellipse">
            <a:avLst/>
          </a:prstGeom>
          <a:solidFill>
            <a:srgbClr val="22D3EE">
              <a:alpha val="4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8092440" y="-1078992"/>
            <a:ext cx="5303520" cy="2651760"/>
          </a:xfrm>
          <a:prstGeom prst="ellipse">
            <a:avLst/>
          </a:prstGeom>
          <a:solidFill>
            <a:srgbClr val="030303">
              <a:alpha val="0"/>
            </a:srgbClr>
          </a:solidFill>
          <a:ln w="8890">
            <a:solidFill>
              <a:srgbClr val="22D3EE">
                <a:alpha val="2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720000">
            <a:off x="8458200" y="-621792"/>
            <a:ext cx="4663440" cy="2011680"/>
          </a:xfrm>
          <a:prstGeom prst="ellipse">
            <a:avLst/>
          </a:prstGeom>
          <a:solidFill>
            <a:srgbClr val="030303">
              <a:alpha val="0"/>
            </a:srgbClr>
          </a:solidFill>
          <a:ln w="6985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658368"/>
            <a:ext cx="22860" cy="22860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5440680"/>
            <a:ext cx="16459" cy="1645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960120"/>
            <a:ext cx="15545" cy="15545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6053328"/>
            <a:ext cx="24689" cy="2468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530352"/>
            <a:ext cx="14630" cy="14630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987552"/>
            <a:ext cx="21031" cy="21031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2280" y="6080760"/>
            <a:ext cx="16459" cy="1645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79792" y="658368"/>
            <a:ext cx="18288" cy="18288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80192" y="2907792"/>
            <a:ext cx="16459" cy="1645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39728" y="4663440"/>
            <a:ext cx="22860" cy="22860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26080"/>
            <a:ext cx="16459" cy="1645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6364224"/>
            <a:ext cx="18288" cy="18288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56032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ARISTÓTELES  /  SISTEMA MULTIAGENTE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360920" y="256032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spc="8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HACKATHON PITCH  /  3–5 MIN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75488" y="502920"/>
            <a:ext cx="11228832" cy="0"/>
          </a:xfrm>
          <a:prstGeom prst="line">
            <a:avLst/>
          </a:prstGeom>
          <a:noFill/>
          <a:ln w="6985">
            <a:solidFill>
              <a:srgbClr val="2A3040">
                <a:alpha val="7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11712" y="6483096"/>
            <a:ext cx="301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spc="3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01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40080" y="122529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 DOCUMENTOS DISPERSOS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03504" y="1572768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decisiones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defendibles.</a:t>
            </a:r>
            <a:endParaRPr lang="en-US" sz="3500" dirty="0"/>
          </a:p>
        </p:txBody>
      </p:sp>
      <p:sp>
        <p:nvSpPr>
          <p:cNvPr id="24" name="Text 22"/>
          <p:cNvSpPr/>
          <p:nvPr/>
        </p:nvSpPr>
        <p:spPr>
          <a:xfrm>
            <a:off x="640080" y="3273552"/>
            <a:ext cx="5166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Aristóteles convierte cotizaciones, contratos y garantías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 una comparación trazable para que una persona decida mejor.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187952"/>
            <a:ext cx="2057400" cy="256032"/>
          </a:xfrm>
          <a:prstGeom prst="roundRect">
            <a:avLst>
              <a:gd name="adj" fmla="val 42857"/>
            </a:avLst>
          </a:prstGeom>
          <a:solidFill>
            <a:srgbClr val="11131A"/>
          </a:solidFill>
          <a:ln w="889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" y="4206240"/>
            <a:ext cx="1892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spc="75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SELECCIÓN DE PROVEEDORES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2816352" y="4187952"/>
            <a:ext cx="2029968" cy="256032"/>
          </a:xfrm>
          <a:prstGeom prst="roundRect">
            <a:avLst>
              <a:gd name="adj" fmla="val 42857"/>
            </a:avLst>
          </a:prstGeom>
          <a:solidFill>
            <a:srgbClr val="11131A"/>
          </a:solidFill>
          <a:ln w="889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98648" y="4206240"/>
            <a:ext cx="18653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spc="75" kern="0" dirty="0">
                <a:solidFill>
                  <a:srgbClr val="8B5C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EVIDENCIA + MULTIAGENTES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658368" y="484632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spc="110" kern="0" dirty="0">
                <a:solidFill>
                  <a:srgbClr val="F59E0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 TOMA LA DECISIÓN  /  LA HACE DEFENDIBLE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 rot="-1020000">
            <a:off x="6812280" y="896112"/>
            <a:ext cx="4297680" cy="4297680"/>
          </a:xfrm>
          <a:prstGeom prst="ellipse">
            <a:avLst/>
          </a:prstGeom>
          <a:solidFill>
            <a:srgbClr val="030303">
              <a:alpha val="0"/>
            </a:srgbClr>
          </a:solidFill>
          <a:ln w="10160">
            <a:solidFill>
              <a:srgbClr val="22D3EE">
                <a:alpha val="2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-1020000">
            <a:off x="7269480" y="1344168"/>
            <a:ext cx="3383280" cy="3383280"/>
          </a:xfrm>
          <a:prstGeom prst="ellipse">
            <a:avLst/>
          </a:prstGeom>
          <a:solidFill>
            <a:srgbClr val="030303">
              <a:alpha val="0"/>
            </a:srgbClr>
          </a:solidFill>
          <a:ln w="7620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87968" y="2450592"/>
            <a:ext cx="841248" cy="84124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80576" y="2734056"/>
            <a:ext cx="256032" cy="25603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79792" y="187452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0A0B0F"/>
          </a:solidFill>
          <a:ln w="8890">
            <a:solidFill>
              <a:srgbClr val="22D3EE">
                <a:alpha val="66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54112" y="213055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spc="110" kern="0" dirty="0">
                <a:solidFill>
                  <a:srgbClr val="F59E0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EJEMPLO SINTÉTICO  /  DEMO</a:t>
            </a:r>
            <a:endParaRPr lang="en-US" sz="710" dirty="0"/>
          </a:p>
        </p:txBody>
      </p:sp>
      <p:sp>
        <p:nvSpPr>
          <p:cNvPr id="36" name="Text 34"/>
          <p:cNvSpPr/>
          <p:nvPr/>
        </p:nvSpPr>
        <p:spPr>
          <a:xfrm>
            <a:off x="7754112" y="2496312"/>
            <a:ext cx="2057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Proveedor 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754112" y="2788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recomendación con revisión humana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7754112" y="3182112"/>
            <a:ext cx="3063240" cy="0"/>
          </a:xfrm>
          <a:prstGeom prst="line">
            <a:avLst/>
          </a:prstGeom>
          <a:noFill/>
          <a:ln w="8890">
            <a:solidFill>
              <a:srgbClr val="2A3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54112" y="3401568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PUNTAJE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641080" y="332841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84/100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9582912" y="340156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EVIDENCIAS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0543032" y="332841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7754112" y="3803904"/>
            <a:ext cx="1581912" cy="256032"/>
          </a:xfrm>
          <a:prstGeom prst="roundRect">
            <a:avLst>
              <a:gd name="adj" fmla="val 42857"/>
            </a:avLst>
          </a:prstGeom>
          <a:solidFill>
            <a:srgbClr val="11221D"/>
          </a:solidFill>
          <a:ln w="889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36408" y="3822192"/>
            <a:ext cx="1417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spc="75" kern="0" dirty="0">
                <a:solidFill>
                  <a:srgbClr val="34D39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EVIDENCIA LOCALIZADA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9509760" y="3867912"/>
            <a:ext cx="1225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10" spc="110" kern="0" dirty="0">
                <a:solidFill>
                  <a:srgbClr val="F59E0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humano al mando</a:t>
            </a:r>
            <a:endParaRPr lang="en-US" sz="710" dirty="0"/>
          </a:p>
        </p:txBody>
      </p:sp>
      <p:sp>
        <p:nvSpPr>
          <p:cNvPr id="46" name="Text 44"/>
          <p:cNvSpPr/>
          <p:nvPr/>
        </p:nvSpPr>
        <p:spPr>
          <a:xfrm>
            <a:off x="640080" y="610819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ARISTÓTELES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2743200" y="6172200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PROCUREMENT CON EVIDENCIA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4440" y="-1051560"/>
            <a:ext cx="4892040" cy="2971800"/>
          </a:xfrm>
          <a:prstGeom prst="ellipse">
            <a:avLst/>
          </a:prstGeom>
          <a:solidFill>
            <a:srgbClr val="3B82F6">
              <a:alpha val="4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4754880"/>
            <a:ext cx="4846320" cy="2926080"/>
          </a:xfrm>
          <a:prstGeom prst="ellipse">
            <a:avLst/>
          </a:prstGeom>
          <a:solidFill>
            <a:srgbClr val="8B5CF6">
              <a:alpha val="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8092440" y="-1078992"/>
            <a:ext cx="5303520" cy="2651760"/>
          </a:xfrm>
          <a:prstGeom prst="ellipse">
            <a:avLst/>
          </a:prstGeom>
          <a:solidFill>
            <a:srgbClr val="030303">
              <a:alpha val="0"/>
            </a:srgbClr>
          </a:solidFill>
          <a:ln w="8890">
            <a:solidFill>
              <a:srgbClr val="8B5CF6">
                <a:alpha val="2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720000">
            <a:off x="8458200" y="-621792"/>
            <a:ext cx="4663440" cy="2011680"/>
          </a:xfrm>
          <a:prstGeom prst="ellipse">
            <a:avLst/>
          </a:prstGeom>
          <a:solidFill>
            <a:srgbClr val="030303">
              <a:alpha val="0"/>
            </a:srgbClr>
          </a:solidFill>
          <a:ln w="6985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658368"/>
            <a:ext cx="22860" cy="22860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5440680"/>
            <a:ext cx="16459" cy="16459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960120"/>
            <a:ext cx="15545" cy="15545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6053328"/>
            <a:ext cx="24689" cy="24689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530352"/>
            <a:ext cx="14630" cy="14630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987552"/>
            <a:ext cx="21031" cy="21031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2280" y="6080760"/>
            <a:ext cx="16459" cy="16459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79792" y="658368"/>
            <a:ext cx="18288" cy="18288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80192" y="2907792"/>
            <a:ext cx="16459" cy="16459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39728" y="4663440"/>
            <a:ext cx="22860" cy="22860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26080"/>
            <a:ext cx="16459" cy="16459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6364224"/>
            <a:ext cx="18288" cy="18288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56032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ARISTÓTELES  /  SISTEMA MULTIAGENTE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360920" y="256032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spc="8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EL PROBLEMA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75488" y="502920"/>
            <a:ext cx="11228832" cy="0"/>
          </a:xfrm>
          <a:prstGeom prst="line">
            <a:avLst/>
          </a:prstGeom>
          <a:noFill/>
          <a:ln w="6985">
            <a:solidFill>
              <a:srgbClr val="2A3040">
                <a:alpha val="7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11712" y="6483096"/>
            <a:ext cx="301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spc="3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03504" y="80467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01  /  PROBLEMA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" y="1097280"/>
            <a:ext cx="7909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Comprar no es elegir el precio más bajo.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21792" y="181965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 encontrar la mejor opción cuando la evidencia está repartida en documentos que no hablan el mismo idioma.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" y="2487168"/>
            <a:ext cx="3182112" cy="3246120"/>
          </a:xfrm>
          <a:prstGeom prst="roundRect">
            <a:avLst>
              <a:gd name="adj" fmla="val 2299"/>
            </a:avLst>
          </a:prstGeom>
          <a:solidFill>
            <a:srgbClr val="11131A"/>
          </a:solidFill>
          <a:ln w="889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2743200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8B5C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UN EXPEDIENTE TÍPICO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68680" y="3136392"/>
            <a:ext cx="2450592" cy="274320"/>
          </a:xfrm>
          <a:prstGeom prst="roundRect">
            <a:avLst>
              <a:gd name="adj" fmla="val 20000"/>
            </a:avLst>
          </a:prstGeom>
          <a:solidFill>
            <a:srgbClr val="171A24"/>
          </a:solidFill>
          <a:ln w="8890">
            <a:solidFill>
              <a:srgbClr val="22D3EE">
                <a:alpha val="6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" y="3209544"/>
            <a:ext cx="109728" cy="118872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25296" y="320405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spc="20" kern="0" dirty="0">
                <a:solidFill>
                  <a:srgbClr val="A7B0C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cotizacion_A.pdf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68680" y="3575304"/>
            <a:ext cx="2450592" cy="274320"/>
          </a:xfrm>
          <a:prstGeom prst="roundRect">
            <a:avLst>
              <a:gd name="adj" fmla="val 20000"/>
            </a:avLst>
          </a:prstGeom>
          <a:solidFill>
            <a:srgbClr val="171A24"/>
          </a:solidFill>
          <a:ln w="8890">
            <a:solidFill>
              <a:srgbClr val="8B5CF6">
                <a:alpha val="6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7552" y="3648456"/>
            <a:ext cx="109728" cy="118872"/>
          </a:xfrm>
          <a:prstGeom prst="rect">
            <a:avLst/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25296" y="364297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spc="20" kern="0" dirty="0">
                <a:solidFill>
                  <a:srgbClr val="A7B0C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contrato_B.pdf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68680" y="4014216"/>
            <a:ext cx="2450592" cy="274320"/>
          </a:xfrm>
          <a:prstGeom prst="roundRect">
            <a:avLst>
              <a:gd name="adj" fmla="val 20000"/>
            </a:avLst>
          </a:prstGeom>
          <a:solidFill>
            <a:srgbClr val="171A24"/>
          </a:solidFill>
          <a:ln w="8890">
            <a:solidFill>
              <a:srgbClr val="F59E0B">
                <a:alpha val="6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7552" y="4087368"/>
            <a:ext cx="109728" cy="118872"/>
          </a:xfrm>
          <a:prstGeom prst="rect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25296" y="408188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spc="20" kern="0" dirty="0">
                <a:solidFill>
                  <a:srgbClr val="A7B0C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garantia_C.pdf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868680" y="4453128"/>
            <a:ext cx="2450592" cy="274320"/>
          </a:xfrm>
          <a:prstGeom prst="roundRect">
            <a:avLst>
              <a:gd name="adj" fmla="val 20000"/>
            </a:avLst>
          </a:prstGeom>
          <a:solidFill>
            <a:srgbClr val="171A24"/>
          </a:solidFill>
          <a:ln w="8890">
            <a:solidFill>
              <a:srgbClr val="3B82F6">
                <a:alpha val="6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7552" y="4526280"/>
            <a:ext cx="109728" cy="118872"/>
          </a:xfrm>
          <a:prstGeom prst="rect">
            <a:avLst/>
          </a:prstGeom>
          <a:solidFill>
            <a:srgbClr val="3B82F6">
              <a:alpha val="9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25296" y="452079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spc="20" kern="0" dirty="0">
                <a:solidFill>
                  <a:srgbClr val="A7B0C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anexo_tecnico.pdf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005840" y="5047488"/>
            <a:ext cx="2240280" cy="0"/>
          </a:xfrm>
          <a:prstGeom prst="line">
            <a:avLst/>
          </a:prstGeom>
          <a:noFill/>
          <a:ln w="10160">
            <a:solidFill>
              <a:srgbClr val="2A30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526694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spc="65" kern="0" dirty="0">
                <a:solidFill>
                  <a:srgbClr val="F59E0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MISMA DECISIÓN  /  DISTINTAS FUENTES</a:t>
            </a:r>
            <a:endParaRPr lang="en-US" sz="670" dirty="0"/>
          </a:p>
        </p:txBody>
      </p:sp>
      <p:sp>
        <p:nvSpPr>
          <p:cNvPr id="41" name="Shape 39"/>
          <p:cNvSpPr/>
          <p:nvPr/>
        </p:nvSpPr>
        <p:spPr>
          <a:xfrm>
            <a:off x="4297680" y="2633472"/>
            <a:ext cx="109728" cy="109728"/>
          </a:xfrm>
          <a:prstGeom prst="ellipse">
            <a:avLst/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254203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Criterios inconsistentes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0" y="27706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Cada evaluador pondera precio, garantía y riesgo de forma distinta.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4297680" y="3346704"/>
            <a:ext cx="109728" cy="109728"/>
          </a:xfrm>
          <a:prstGeom prst="ellipse">
            <a:avLst/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0" y="325526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Cláusulas que se pierden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0" y="348386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información importante vive en anexos, tablas y notas al pie.</a:t>
            </a:r>
            <a:endParaRPr lang="en-US" sz="930" dirty="0"/>
          </a:p>
        </p:txBody>
      </p:sp>
      <p:sp>
        <p:nvSpPr>
          <p:cNvPr id="47" name="Shape 45"/>
          <p:cNvSpPr/>
          <p:nvPr/>
        </p:nvSpPr>
        <p:spPr>
          <a:xfrm>
            <a:off x="4297680" y="4059936"/>
            <a:ext cx="109728" cy="109728"/>
          </a:xfrm>
          <a:prstGeom prst="ellipse">
            <a:avLst/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0" y="396849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Recomendaciones débiles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0" y="41970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 equipo debe reconstruir de dónde salió cada afirmación.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4297680" y="4773168"/>
            <a:ext cx="109728" cy="109728"/>
          </a:xfrm>
          <a:prstGeom prst="ellipse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468172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Datos ausentes invisibles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572000" y="491032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 documento incompleto puede parecer una respuesta completa.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8961120" y="2523744"/>
            <a:ext cx="2615184" cy="2395728"/>
          </a:xfrm>
          <a:prstGeom prst="roundRect">
            <a:avLst>
              <a:gd name="adj" fmla="val 3053"/>
            </a:avLst>
          </a:prstGeom>
          <a:solidFill>
            <a:srgbClr val="0A0B0F"/>
          </a:solidFill>
          <a:ln w="889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35440" y="2779776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spc="110" kern="0" dirty="0">
                <a:solidFill>
                  <a:srgbClr val="F59E0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EL COSTO REAL</a:t>
            </a:r>
            <a:endParaRPr lang="en-US" sz="730" dirty="0"/>
          </a:p>
        </p:txBody>
      </p:sp>
      <p:sp>
        <p:nvSpPr>
          <p:cNvPr id="55" name="Text 53"/>
          <p:cNvSpPr/>
          <p:nvPr/>
        </p:nvSpPr>
        <p:spPr>
          <a:xfrm>
            <a:off x="9235440" y="31638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Retrabajo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9235440" y="345643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 volver a encontrar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fuente de la verdad.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235440" y="4151376"/>
            <a:ext cx="1920240" cy="0"/>
          </a:xfrm>
          <a:prstGeom prst="line">
            <a:avLst/>
          </a:prstGeom>
          <a:noFill/>
          <a:ln w="8890">
            <a:solidFill>
              <a:srgbClr val="2A30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35440" y="437083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spc="110" kern="0" dirty="0">
                <a:solidFill>
                  <a:srgbClr val="F7FA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EL RIESGO NO DESAPARECE</a:t>
            </a:r>
            <a:endParaRPr lang="en-US" sz="670" dirty="0"/>
          </a:p>
        </p:txBody>
      </p:sp>
      <p:sp>
        <p:nvSpPr>
          <p:cNvPr id="59" name="Text 57"/>
          <p:cNvSpPr/>
          <p:nvPr/>
        </p:nvSpPr>
        <p:spPr>
          <a:xfrm>
            <a:off x="9235440" y="4590288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spc="110" kern="0" dirty="0">
                <a:solidFill>
                  <a:srgbClr val="F59E0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 VUELVE INVISIBLE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4440" y="-1051560"/>
            <a:ext cx="4892040" cy="2971800"/>
          </a:xfrm>
          <a:prstGeom prst="ellipse">
            <a:avLst/>
          </a:prstGeom>
          <a:solidFill>
            <a:srgbClr val="3B82F6">
              <a:alpha val="4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4754880"/>
            <a:ext cx="4846320" cy="2926080"/>
          </a:xfrm>
          <a:prstGeom prst="ellipse">
            <a:avLst/>
          </a:prstGeom>
          <a:solidFill>
            <a:srgbClr val="22D3EE">
              <a:alpha val="4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8092440" y="-1078992"/>
            <a:ext cx="5303520" cy="2651760"/>
          </a:xfrm>
          <a:prstGeom prst="ellipse">
            <a:avLst/>
          </a:prstGeom>
          <a:solidFill>
            <a:srgbClr val="030303">
              <a:alpha val="0"/>
            </a:srgbClr>
          </a:solidFill>
          <a:ln w="8890">
            <a:solidFill>
              <a:srgbClr val="22D3EE">
                <a:alpha val="2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720000">
            <a:off x="8458200" y="-621792"/>
            <a:ext cx="4663440" cy="2011680"/>
          </a:xfrm>
          <a:prstGeom prst="ellipse">
            <a:avLst/>
          </a:prstGeom>
          <a:solidFill>
            <a:srgbClr val="030303">
              <a:alpha val="0"/>
            </a:srgbClr>
          </a:solidFill>
          <a:ln w="6985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658368"/>
            <a:ext cx="22860" cy="22860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5440680"/>
            <a:ext cx="16459" cy="1645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960120"/>
            <a:ext cx="15545" cy="15545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6053328"/>
            <a:ext cx="24689" cy="2468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530352"/>
            <a:ext cx="14630" cy="14630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987552"/>
            <a:ext cx="21031" cy="21031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2280" y="6080760"/>
            <a:ext cx="16459" cy="1645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79792" y="658368"/>
            <a:ext cx="18288" cy="18288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80192" y="2907792"/>
            <a:ext cx="16459" cy="1645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39728" y="4663440"/>
            <a:ext cx="22860" cy="22860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26080"/>
            <a:ext cx="16459" cy="1645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6364224"/>
            <a:ext cx="18288" cy="18288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56032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ARISTÓTELES  /  SISTEMA MULTIAGENTE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360920" y="256032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spc="8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 ESCALA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75488" y="502920"/>
            <a:ext cx="11228832" cy="0"/>
          </a:xfrm>
          <a:prstGeom prst="line">
            <a:avLst/>
          </a:prstGeom>
          <a:noFill/>
          <a:ln w="6985">
            <a:solidFill>
              <a:srgbClr val="2A3040">
                <a:alpha val="7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11712" y="6483096"/>
            <a:ext cx="301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spc="3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03504" y="80467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  /  ESCALA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" y="1097280"/>
            <a:ext cx="7909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Una decisión pequeña puede mover recursos enormes.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21792" y="181965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selección de proveedores está dentro de una de las superficies económicas más grandes y sensibles del mundo.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" y="2578608"/>
            <a:ext cx="3383280" cy="1993392"/>
          </a:xfrm>
          <a:prstGeom prst="roundRect">
            <a:avLst>
              <a:gd name="adj" fmla="val 3670"/>
            </a:avLst>
          </a:prstGeom>
          <a:solidFill>
            <a:srgbClr val="11131A"/>
          </a:solidFill>
          <a:ln w="8890">
            <a:solidFill>
              <a:srgbClr val="22D3EE">
                <a:alpha val="66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" y="283464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spc="11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OECD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832104" y="3172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17.4%</a:t>
            </a:r>
            <a:endParaRPr lang="en-US" sz="2900" dirty="0"/>
          </a:p>
        </p:txBody>
      </p:sp>
      <p:sp>
        <p:nvSpPr>
          <p:cNvPr id="28" name="Text 26"/>
          <p:cNvSpPr/>
          <p:nvPr/>
        </p:nvSpPr>
        <p:spPr>
          <a:xfrm>
            <a:off x="832104" y="37307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 gasto público total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2104" y="4096512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spc="4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promedio LAC* · 2021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389120" y="2578608"/>
            <a:ext cx="3383280" cy="1993392"/>
          </a:xfrm>
          <a:prstGeom prst="roundRect">
            <a:avLst>
              <a:gd name="adj" fmla="val 3670"/>
            </a:avLst>
          </a:prstGeom>
          <a:solidFill>
            <a:srgbClr val="11131A"/>
          </a:solidFill>
          <a:ln w="8890">
            <a:solidFill>
              <a:srgbClr val="8B5CF6">
                <a:alpha val="66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83464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spc="110" kern="0" dirty="0">
                <a:solidFill>
                  <a:srgbClr val="8B5C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OECD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4617720" y="3172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6.6%</a:t>
            </a:r>
            <a:endParaRPr lang="en-US" sz="2900" dirty="0"/>
          </a:p>
        </p:txBody>
      </p:sp>
      <p:sp>
        <p:nvSpPr>
          <p:cNvPr id="33" name="Text 31"/>
          <p:cNvSpPr/>
          <p:nvPr/>
        </p:nvSpPr>
        <p:spPr>
          <a:xfrm>
            <a:off x="4617720" y="37307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 contratación / PIB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617720" y="4096512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spc="4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promedio LAC* · 2021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8174736" y="2578608"/>
            <a:ext cx="3401568" cy="1993392"/>
          </a:xfrm>
          <a:prstGeom prst="roundRect">
            <a:avLst>
              <a:gd name="adj" fmla="val 3670"/>
            </a:avLst>
          </a:prstGeom>
          <a:solidFill>
            <a:srgbClr val="11131A"/>
          </a:solidFill>
          <a:ln w="8890">
            <a:solidFill>
              <a:srgbClr val="F59E0B">
                <a:alpha val="66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03336" y="2834640"/>
            <a:ext cx="2944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spc="110" kern="0" dirty="0">
                <a:solidFill>
                  <a:srgbClr val="F59E0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WORLD BANK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8403336" y="317296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US$9,5 billones</a:t>
            </a:r>
            <a:endParaRPr lang="en-US" sz="2900" dirty="0"/>
          </a:p>
        </p:txBody>
      </p:sp>
      <p:sp>
        <p:nvSpPr>
          <p:cNvPr id="38" name="Text 36"/>
          <p:cNvSpPr/>
          <p:nvPr/>
        </p:nvSpPr>
        <p:spPr>
          <a:xfrm>
            <a:off x="8403336" y="373075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 contratos públicos / año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403336" y="4096512"/>
            <a:ext cx="2944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spc="4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estimación global · 2020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603504" y="4956048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0A0B0F"/>
          </a:solidFill>
          <a:ln w="8890">
            <a:solidFill>
              <a:srgbClr val="2A3040">
                <a:alpha val="7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" y="5184648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spc="11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POR QUÉ IMPORTA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2304288" y="51023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Más que ahorrar tiempo, buscamos elevar la calidad de cada decisión: valor por dinero, menor riesgo y una trazabilidad que resista la revisión.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710928" y="523036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spc="11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FUENTES COMPLETAS EN SOURCES.MD</a:t>
            </a:r>
            <a:endParaRPr lang="en-US" sz="640" dirty="0"/>
          </a:p>
        </p:txBody>
      </p:sp>
      <p:sp>
        <p:nvSpPr>
          <p:cNvPr id="44" name="Text 42"/>
          <p:cNvSpPr/>
          <p:nvPr/>
        </p:nvSpPr>
        <p:spPr>
          <a:xfrm>
            <a:off x="640080" y="5943600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spc="11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* LAC = países con datos disponibles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640080" y="619963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spc="11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OECD · GOVERNMENT AT A GLANCE LAC 2024 · DATOS 2021</a:t>
            </a:r>
            <a:endParaRPr lang="en-US" sz="670" dirty="0"/>
          </a:p>
        </p:txBody>
      </p:sp>
      <p:sp>
        <p:nvSpPr>
          <p:cNvPr id="46" name="Text 44"/>
          <p:cNvSpPr/>
          <p:nvPr/>
        </p:nvSpPr>
        <p:spPr>
          <a:xfrm>
            <a:off x="6656832" y="6199632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spc="11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WORLD BANK · PROCUREMENT FOR DEVELOPMENT · ESTIMACIÓN 2020</a:t>
            </a:r>
            <a:endParaRPr lang="en-US" sz="6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4440" y="-1051560"/>
            <a:ext cx="4892040" cy="2971800"/>
          </a:xfrm>
          <a:prstGeom prst="ellipse">
            <a:avLst/>
          </a:prstGeom>
          <a:solidFill>
            <a:srgbClr val="3B82F6">
              <a:alpha val="4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4754880"/>
            <a:ext cx="4846320" cy="2926080"/>
          </a:xfrm>
          <a:prstGeom prst="ellipse">
            <a:avLst/>
          </a:prstGeom>
          <a:solidFill>
            <a:srgbClr val="8B5CF6">
              <a:alpha val="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8092440" y="-1078992"/>
            <a:ext cx="5303520" cy="2651760"/>
          </a:xfrm>
          <a:prstGeom prst="ellipse">
            <a:avLst/>
          </a:prstGeom>
          <a:solidFill>
            <a:srgbClr val="030303">
              <a:alpha val="0"/>
            </a:srgbClr>
          </a:solidFill>
          <a:ln w="8890">
            <a:solidFill>
              <a:srgbClr val="8B5CF6">
                <a:alpha val="2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720000">
            <a:off x="8458200" y="-621792"/>
            <a:ext cx="4663440" cy="2011680"/>
          </a:xfrm>
          <a:prstGeom prst="ellipse">
            <a:avLst/>
          </a:prstGeom>
          <a:solidFill>
            <a:srgbClr val="030303">
              <a:alpha val="0"/>
            </a:srgbClr>
          </a:solidFill>
          <a:ln w="6985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658368"/>
            <a:ext cx="22860" cy="22860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5440680"/>
            <a:ext cx="16459" cy="16459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960120"/>
            <a:ext cx="15545" cy="15545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6053328"/>
            <a:ext cx="24689" cy="24689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530352"/>
            <a:ext cx="14630" cy="14630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987552"/>
            <a:ext cx="21031" cy="21031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2280" y="6080760"/>
            <a:ext cx="16459" cy="16459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79792" y="658368"/>
            <a:ext cx="18288" cy="18288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80192" y="2907792"/>
            <a:ext cx="16459" cy="16459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39728" y="4663440"/>
            <a:ext cx="22860" cy="22860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26080"/>
            <a:ext cx="16459" cy="16459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6364224"/>
            <a:ext cx="18288" cy="18288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56032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ARISTÓTELES  /  SISTEMA MULTIAGENTE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360920" y="256032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spc="8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 SOLUCIÓN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75488" y="502920"/>
            <a:ext cx="11228832" cy="0"/>
          </a:xfrm>
          <a:prstGeom prst="line">
            <a:avLst/>
          </a:prstGeom>
          <a:noFill/>
          <a:ln w="6985">
            <a:solidFill>
              <a:srgbClr val="2A3040">
                <a:alpha val="7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11712" y="6483096"/>
            <a:ext cx="301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spc="3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03504" y="80467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  /  SOLUCIÓN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" y="1097280"/>
            <a:ext cx="7909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Una capa de decisión sobre tus documentos.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21792" y="181965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Aristóteles convierte archivos heterogéneos en criterios explícitos, hechos localizables y una recomendación no vinculante.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2487168"/>
            <a:ext cx="2889504" cy="1993392"/>
          </a:xfrm>
          <a:prstGeom prst="roundRect">
            <a:avLst>
              <a:gd name="adj" fmla="val 3670"/>
            </a:avLst>
          </a:prstGeom>
          <a:solidFill>
            <a:srgbClr val="11131A"/>
          </a:solidFill>
          <a:ln w="889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276148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spc="11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DOCUMENTOS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886968" y="31546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INGESTA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86968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PDFs, imágenes, contratos,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cotizaciones y garantías.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86968" y="4151376"/>
            <a:ext cx="2377440" cy="0"/>
          </a:xfrm>
          <a:prstGeom prst="line">
            <a:avLst/>
          </a:prstGeom>
          <a:noFill/>
          <a:ln w="1524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44952" y="4105656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47872" y="3456432"/>
            <a:ext cx="521208" cy="0"/>
          </a:xfrm>
          <a:prstGeom prst="line">
            <a:avLst/>
          </a:prstGeom>
          <a:noFill/>
          <a:ln w="1397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0" y="3355848"/>
            <a:ext cx="164592" cy="201168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96512" y="2487168"/>
            <a:ext cx="2889504" cy="1993392"/>
          </a:xfrm>
          <a:prstGeom prst="roundRect">
            <a:avLst>
              <a:gd name="adj" fmla="val 3670"/>
            </a:avLst>
          </a:prstGeom>
          <a:solidFill>
            <a:srgbClr val="11131A"/>
          </a:solidFill>
          <a:ln w="889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3400" y="276148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spc="110" kern="0" dirty="0">
                <a:solidFill>
                  <a:srgbClr val="8B5C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CORPUS RAG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4343400" y="31546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EVIDENCIA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34340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Hechos, citas, páginas,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riesgos y datos faltantes.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43400" y="4151376"/>
            <a:ext cx="2377440" cy="0"/>
          </a:xfrm>
          <a:prstGeom prst="line">
            <a:avLst/>
          </a:prstGeom>
          <a:noFill/>
          <a:ln w="1524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01384" y="4105656"/>
            <a:ext cx="100584" cy="1005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04304" y="3456432"/>
            <a:ext cx="521208" cy="0"/>
          </a:xfrm>
          <a:prstGeom prst="line">
            <a:avLst/>
          </a:prstGeom>
          <a:noFill/>
          <a:ln w="1397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96912" y="3355848"/>
            <a:ext cx="164592" cy="201168"/>
          </a:xfrm>
          <a:prstGeom prst="chevron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52944" y="2487168"/>
            <a:ext cx="2889504" cy="1993392"/>
          </a:xfrm>
          <a:prstGeom prst="roundRect">
            <a:avLst>
              <a:gd name="adj" fmla="val 3670"/>
            </a:avLst>
          </a:prstGeom>
          <a:solidFill>
            <a:srgbClr val="11131A"/>
          </a:solidFill>
          <a:ln w="889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99832" y="276148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spc="110" kern="0" dirty="0">
                <a:solidFill>
                  <a:srgbClr val="F59E0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REPORTE</a:t>
            </a:r>
            <a:endParaRPr lang="en-US" sz="730" dirty="0"/>
          </a:p>
        </p:txBody>
      </p:sp>
      <p:sp>
        <p:nvSpPr>
          <p:cNvPr id="43" name="Text 41"/>
          <p:cNvSpPr/>
          <p:nvPr/>
        </p:nvSpPr>
        <p:spPr>
          <a:xfrm>
            <a:off x="7799832" y="31546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DECISIÓN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799832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Comparación ponderada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 revisión humana.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799832" y="4151376"/>
            <a:ext cx="2377440" cy="0"/>
          </a:xfrm>
          <a:prstGeom prst="line">
            <a:avLst/>
          </a:prstGeom>
          <a:noFill/>
          <a:ln w="1524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957816" y="4105656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4892040"/>
            <a:ext cx="10917936" cy="914400"/>
          </a:xfrm>
          <a:prstGeom prst="roundRect">
            <a:avLst>
              <a:gd name="adj" fmla="val 8000"/>
            </a:avLst>
          </a:prstGeom>
          <a:solidFill>
            <a:srgbClr val="0A0B0F"/>
          </a:solidFill>
          <a:ln w="8890">
            <a:solidFill>
              <a:srgbClr val="2A3040">
                <a:alpha val="7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4400" y="5266944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97280" y="520293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spc="11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COMPARABLE</a:t>
            </a:r>
            <a:endParaRPr lang="en-US" sz="710" dirty="0"/>
          </a:p>
        </p:txBody>
      </p:sp>
      <p:sp>
        <p:nvSpPr>
          <p:cNvPr id="50" name="Text 48"/>
          <p:cNvSpPr/>
          <p:nvPr/>
        </p:nvSpPr>
        <p:spPr>
          <a:xfrm>
            <a:off x="1097280" y="5468112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mismos criterios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425696" y="526694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08576" y="520293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spc="110" kern="0" dirty="0">
                <a:solidFill>
                  <a:srgbClr val="8B5C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CITABLE</a:t>
            </a:r>
            <a:endParaRPr lang="en-US" sz="710" dirty="0"/>
          </a:p>
        </p:txBody>
      </p:sp>
      <p:sp>
        <p:nvSpPr>
          <p:cNvPr id="53" name="Text 51"/>
          <p:cNvSpPr/>
          <p:nvPr/>
        </p:nvSpPr>
        <p:spPr>
          <a:xfrm>
            <a:off x="4608576" y="5468112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cada afirmación localizada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936992" y="5266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19872" y="520293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spc="110" kern="0" dirty="0">
                <a:solidFill>
                  <a:srgbClr val="F59E0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HUMANA</a:t>
            </a:r>
            <a:endParaRPr lang="en-US" sz="710" dirty="0"/>
          </a:p>
        </p:txBody>
      </p:sp>
      <p:sp>
        <p:nvSpPr>
          <p:cNvPr id="56" name="Text 54"/>
          <p:cNvSpPr/>
          <p:nvPr/>
        </p:nvSpPr>
        <p:spPr>
          <a:xfrm>
            <a:off x="8119872" y="5468112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decisión sigue siendo tuya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4440" y="-1051560"/>
            <a:ext cx="4892040" cy="2971800"/>
          </a:xfrm>
          <a:prstGeom prst="ellipse">
            <a:avLst/>
          </a:prstGeom>
          <a:solidFill>
            <a:srgbClr val="3B82F6">
              <a:alpha val="4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4754880"/>
            <a:ext cx="4846320" cy="2926080"/>
          </a:xfrm>
          <a:prstGeom prst="ellipse">
            <a:avLst/>
          </a:prstGeom>
          <a:solidFill>
            <a:srgbClr val="22D3EE">
              <a:alpha val="4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8092440" y="-1078992"/>
            <a:ext cx="5303520" cy="2651760"/>
          </a:xfrm>
          <a:prstGeom prst="ellipse">
            <a:avLst/>
          </a:prstGeom>
          <a:solidFill>
            <a:srgbClr val="030303">
              <a:alpha val="0"/>
            </a:srgbClr>
          </a:solidFill>
          <a:ln w="8890">
            <a:solidFill>
              <a:srgbClr val="22D3EE">
                <a:alpha val="2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720000">
            <a:off x="8458200" y="-621792"/>
            <a:ext cx="4663440" cy="2011680"/>
          </a:xfrm>
          <a:prstGeom prst="ellipse">
            <a:avLst/>
          </a:prstGeom>
          <a:solidFill>
            <a:srgbClr val="030303">
              <a:alpha val="0"/>
            </a:srgbClr>
          </a:solidFill>
          <a:ln w="6985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658368"/>
            <a:ext cx="22860" cy="22860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5440680"/>
            <a:ext cx="16459" cy="1645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960120"/>
            <a:ext cx="15545" cy="15545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6053328"/>
            <a:ext cx="24689" cy="2468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530352"/>
            <a:ext cx="14630" cy="14630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987552"/>
            <a:ext cx="21031" cy="21031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2280" y="6080760"/>
            <a:ext cx="16459" cy="1645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79792" y="658368"/>
            <a:ext cx="18288" cy="18288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80192" y="2907792"/>
            <a:ext cx="16459" cy="1645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39728" y="4663440"/>
            <a:ext cx="22860" cy="22860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26080"/>
            <a:ext cx="16459" cy="1645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6364224"/>
            <a:ext cx="18288" cy="18288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56032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ARISTÓTELES  /  SISTEMA MULTIAGENTE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360920" y="256032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spc="8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ARQUITECTURA MULTIAGENTE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75488" y="502920"/>
            <a:ext cx="11228832" cy="0"/>
          </a:xfrm>
          <a:prstGeom prst="line">
            <a:avLst/>
          </a:prstGeom>
          <a:noFill/>
          <a:ln w="6985">
            <a:solidFill>
              <a:srgbClr val="2A3040">
                <a:alpha val="7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11712" y="6483096"/>
            <a:ext cx="301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spc="3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03504" y="80467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  /  MULTIAGENTES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" y="1097280"/>
            <a:ext cx="7909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es un agente que habla. Es un sistema que verifica.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21792" y="181965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Cada agente tiene una responsabilidad estrecha; las operaciones críticas siguen siendo deterministas y validables.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" y="2560320"/>
            <a:ext cx="1755648" cy="1024128"/>
          </a:xfrm>
          <a:prstGeom prst="roundRect">
            <a:avLst>
              <a:gd name="adj" fmla="val 7143"/>
            </a:avLst>
          </a:prstGeom>
          <a:solidFill>
            <a:srgbClr val="11131A"/>
          </a:solidFill>
          <a:ln w="8890">
            <a:solidFill>
              <a:srgbClr val="22D3EE">
                <a:alpha val="6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" y="2724912"/>
            <a:ext cx="347472" cy="347472"/>
          </a:xfrm>
          <a:prstGeom prst="ellipse">
            <a:avLst/>
          </a:prstGeom>
          <a:solidFill>
            <a:srgbClr val="22D3EE">
              <a:alpha val="18000"/>
            </a:srgbClr>
          </a:solidFill>
          <a:ln w="1016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2798064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spc="2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01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234440" y="271576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34440" y="2971800"/>
            <a:ext cx="1042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prepara el corpus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2441448" y="3072384"/>
            <a:ext cx="420624" cy="0"/>
          </a:xfrm>
          <a:prstGeom prst="line">
            <a:avLst/>
          </a:prstGeom>
          <a:noFill/>
          <a:ln w="12700">
            <a:solidFill>
              <a:srgbClr val="22D3EE">
                <a:alpha val="9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70048" y="2999232"/>
            <a:ext cx="128016" cy="164592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44368" y="2560320"/>
            <a:ext cx="1755648" cy="1024128"/>
          </a:xfrm>
          <a:prstGeom prst="roundRect">
            <a:avLst>
              <a:gd name="adj" fmla="val 7143"/>
            </a:avLst>
          </a:prstGeom>
          <a:solidFill>
            <a:srgbClr val="11131A"/>
          </a:solidFill>
          <a:ln w="8890">
            <a:solidFill>
              <a:srgbClr val="3B82F6">
                <a:alpha val="6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72384" y="2724912"/>
            <a:ext cx="347472" cy="347472"/>
          </a:xfrm>
          <a:prstGeom prst="ellipse">
            <a:avLst/>
          </a:prstGeom>
          <a:solidFill>
            <a:srgbClr val="3B82F6">
              <a:alpha val="18000"/>
            </a:srgbClr>
          </a:solidFill>
          <a:ln w="1016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72384" y="2798064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spc="20" kern="0" dirty="0">
                <a:solidFill>
                  <a:srgbClr val="3B8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520440" y="271576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PLANNER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20440" y="2971800"/>
            <a:ext cx="1042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propone criterios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4727448" y="3072384"/>
            <a:ext cx="420624" cy="0"/>
          </a:xfrm>
          <a:prstGeom prst="line">
            <a:avLst/>
          </a:prstGeom>
          <a:noFill/>
          <a:ln w="12700">
            <a:solidFill>
              <a:srgbClr val="3B82F6">
                <a:alpha val="9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56048" y="2999232"/>
            <a:ext cx="128016" cy="164592"/>
          </a:xfrm>
          <a:prstGeom prst="chevron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30368" y="2560320"/>
            <a:ext cx="1755648" cy="1024128"/>
          </a:xfrm>
          <a:prstGeom prst="roundRect">
            <a:avLst>
              <a:gd name="adj" fmla="val 7143"/>
            </a:avLst>
          </a:prstGeom>
          <a:solidFill>
            <a:srgbClr val="11131A"/>
          </a:solidFill>
          <a:ln w="8890">
            <a:solidFill>
              <a:srgbClr val="8B5CF6">
                <a:alpha val="6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58384" y="2724912"/>
            <a:ext cx="347472" cy="347472"/>
          </a:xfrm>
          <a:prstGeom prst="ellipse">
            <a:avLst/>
          </a:prstGeom>
          <a:solidFill>
            <a:srgbClr val="8B5CF6">
              <a:alpha val="18000"/>
            </a:srgbClr>
          </a:solidFill>
          <a:ln w="1016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58384" y="2798064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spc="20" kern="0" dirty="0">
                <a:solidFill>
                  <a:srgbClr val="8B5C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806440" y="271576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RESEARCH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806440" y="2971800"/>
            <a:ext cx="1042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extrae hechos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7013448" y="3072384"/>
            <a:ext cx="420624" cy="0"/>
          </a:xfrm>
          <a:prstGeom prst="line">
            <a:avLst/>
          </a:prstGeom>
          <a:noFill/>
          <a:ln w="12700">
            <a:solidFill>
              <a:srgbClr val="8B5CF6">
                <a:alpha val="9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42048" y="2999232"/>
            <a:ext cx="128016" cy="164592"/>
          </a:xfrm>
          <a:prstGeom prst="chevron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16368" y="2560320"/>
            <a:ext cx="1755648" cy="1024128"/>
          </a:xfrm>
          <a:prstGeom prst="roundRect">
            <a:avLst>
              <a:gd name="adj" fmla="val 7143"/>
            </a:avLst>
          </a:prstGeom>
          <a:solidFill>
            <a:srgbClr val="11131A"/>
          </a:solidFill>
          <a:ln w="8890">
            <a:solidFill>
              <a:srgbClr val="F59E0B">
                <a:alpha val="6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44384" y="2724912"/>
            <a:ext cx="347472" cy="347472"/>
          </a:xfrm>
          <a:prstGeom prst="ellipse">
            <a:avLst/>
          </a:prstGeom>
          <a:solidFill>
            <a:srgbClr val="F59E0B">
              <a:alpha val="18000"/>
            </a:srgbClr>
          </a:solidFill>
          <a:ln w="1016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44384" y="2798064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spc="20" kern="0" dirty="0">
                <a:solidFill>
                  <a:srgbClr val="F59E0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092440" y="271576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92440" y="2971800"/>
            <a:ext cx="1042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aplica pesos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9299448" y="3072384"/>
            <a:ext cx="420624" cy="0"/>
          </a:xfrm>
          <a:prstGeom prst="line">
            <a:avLst/>
          </a:prstGeom>
          <a:noFill/>
          <a:ln w="12700">
            <a:solidFill>
              <a:srgbClr val="F59E0B">
                <a:alpha val="9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28048" y="2999232"/>
            <a:ext cx="128016" cy="164592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802368" y="2560320"/>
            <a:ext cx="1755648" cy="1024128"/>
          </a:xfrm>
          <a:prstGeom prst="roundRect">
            <a:avLst>
              <a:gd name="adj" fmla="val 7143"/>
            </a:avLst>
          </a:prstGeom>
          <a:solidFill>
            <a:srgbClr val="11131A"/>
          </a:solidFill>
          <a:ln w="8890">
            <a:solidFill>
              <a:srgbClr val="34D399">
                <a:alpha val="6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30384" y="2724912"/>
            <a:ext cx="347472" cy="347472"/>
          </a:xfrm>
          <a:prstGeom prst="ellipse">
            <a:avLst/>
          </a:prstGeom>
          <a:solidFill>
            <a:srgbClr val="34D399">
              <a:alpha val="18000"/>
            </a:srgbClr>
          </a:solidFill>
          <a:ln w="1016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30384" y="2798064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spc="20" kern="0" dirty="0">
                <a:solidFill>
                  <a:srgbClr val="34D39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05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0378440" y="271576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DECISION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0378440" y="2971800"/>
            <a:ext cx="1042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recomienda o se abstiene</a:t>
            </a:r>
            <a:endParaRPr lang="en-US" sz="840" dirty="0"/>
          </a:p>
        </p:txBody>
      </p:sp>
      <p:sp>
        <p:nvSpPr>
          <p:cNvPr id="58" name="Shape 56"/>
          <p:cNvSpPr/>
          <p:nvPr/>
        </p:nvSpPr>
        <p:spPr>
          <a:xfrm>
            <a:off x="658368" y="4005072"/>
            <a:ext cx="5230368" cy="1426464"/>
          </a:xfrm>
          <a:prstGeom prst="roundRect">
            <a:avLst>
              <a:gd name="adj" fmla="val 5128"/>
            </a:avLst>
          </a:prstGeom>
          <a:solidFill>
            <a:srgbClr val="11131A"/>
          </a:solidFill>
          <a:ln w="889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2688" y="4297680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HERRAMIENTAS DETERMINISTAS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932688" y="4626864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OCR  ·  parsing  ·  chunking  ·  búsqueda  ·  scoring  ·  PDF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32688" y="49651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 modelo decide qué herramienta usar; la herramienta define cómo se ejecuta y valida.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6172200" y="4005072"/>
            <a:ext cx="5413248" cy="1426464"/>
          </a:xfrm>
          <a:prstGeom prst="roundRect">
            <a:avLst>
              <a:gd name="adj" fmla="val 5128"/>
            </a:avLst>
          </a:prstGeom>
          <a:solidFill>
            <a:srgbClr val="11131A"/>
          </a:solidFill>
          <a:ln w="889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46520" y="4297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8B5C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CONTROL DE ALCANCE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446520" y="4690872"/>
            <a:ext cx="50292" cy="502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11112" y="4590288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interpreta fuera de su rol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446520" y="4965192"/>
            <a:ext cx="50292" cy="502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11112" y="4864608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afirma sin evidencia asociada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446520" y="5239512"/>
            <a:ext cx="50292" cy="502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11112" y="5138928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Puede responder: needs_review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58368" y="6144768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spc="11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PLANNER  →  PLAN DE ANÁLISIS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6400800" y="6144768"/>
            <a:ext cx="5166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spc="11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 AGENTES  +  1 HUMANO  +  HERRAMIENTAS REPRODUCIBLES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4440" y="-1051560"/>
            <a:ext cx="4892040" cy="2971800"/>
          </a:xfrm>
          <a:prstGeom prst="ellipse">
            <a:avLst/>
          </a:prstGeom>
          <a:solidFill>
            <a:srgbClr val="3B82F6">
              <a:alpha val="4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4754880"/>
            <a:ext cx="4846320" cy="2926080"/>
          </a:xfrm>
          <a:prstGeom prst="ellipse">
            <a:avLst/>
          </a:prstGeom>
          <a:solidFill>
            <a:srgbClr val="8B5CF6">
              <a:alpha val="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8092440" y="-1078992"/>
            <a:ext cx="5303520" cy="2651760"/>
          </a:xfrm>
          <a:prstGeom prst="ellipse">
            <a:avLst/>
          </a:prstGeom>
          <a:solidFill>
            <a:srgbClr val="030303">
              <a:alpha val="0"/>
            </a:srgbClr>
          </a:solidFill>
          <a:ln w="8890">
            <a:solidFill>
              <a:srgbClr val="8B5CF6">
                <a:alpha val="2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720000">
            <a:off x="8458200" y="-621792"/>
            <a:ext cx="4663440" cy="2011680"/>
          </a:xfrm>
          <a:prstGeom prst="ellipse">
            <a:avLst/>
          </a:prstGeom>
          <a:solidFill>
            <a:srgbClr val="030303">
              <a:alpha val="0"/>
            </a:srgbClr>
          </a:solidFill>
          <a:ln w="6985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658368"/>
            <a:ext cx="22860" cy="22860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5440680"/>
            <a:ext cx="16459" cy="16459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960120"/>
            <a:ext cx="15545" cy="15545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6053328"/>
            <a:ext cx="24689" cy="24689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530352"/>
            <a:ext cx="14630" cy="14630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987552"/>
            <a:ext cx="21031" cy="21031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2280" y="6080760"/>
            <a:ext cx="16459" cy="16459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79792" y="658368"/>
            <a:ext cx="18288" cy="18288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80192" y="2907792"/>
            <a:ext cx="16459" cy="16459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39728" y="4663440"/>
            <a:ext cx="22860" cy="22860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26080"/>
            <a:ext cx="16459" cy="16459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6364224"/>
            <a:ext cx="18288" cy="18288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56032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ARISTÓTELES  /  SISTEMA MULTIAGENTE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360920" y="256032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spc="8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CONFIANZA Y EVIDENCIA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75488" y="502920"/>
            <a:ext cx="11228832" cy="0"/>
          </a:xfrm>
          <a:prstGeom prst="line">
            <a:avLst/>
          </a:prstGeom>
          <a:noFill/>
          <a:ln w="6985">
            <a:solidFill>
              <a:srgbClr val="2A3040">
                <a:alpha val="7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11712" y="6483096"/>
            <a:ext cx="301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spc="3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06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03504" y="80467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05  /  CONFIANZA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" y="1097280"/>
            <a:ext cx="7909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confianza no la inventa el modelo.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21792" y="181965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 calcula desde la calidad de la evidencia y se degrada cuando faltan datos o las fuentes se contradicen.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" y="2487168"/>
            <a:ext cx="4791456" cy="3127248"/>
          </a:xfrm>
          <a:prstGeom prst="roundRect">
            <a:avLst>
              <a:gd name="adj" fmla="val 2339"/>
            </a:avLst>
          </a:prstGeom>
          <a:solidFill>
            <a:srgbClr val="11131A"/>
          </a:solidFill>
          <a:ln w="889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2761488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spc="110" kern="0" dirty="0">
                <a:solidFill>
                  <a:srgbClr val="8B5C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RÚBRICA EXPLICABLE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896112" y="3163824"/>
            <a:ext cx="2377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Cobertura de criterios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3355848" y="3200400"/>
            <a:ext cx="1252728" cy="109728"/>
          </a:xfrm>
          <a:prstGeom prst="roundRect">
            <a:avLst>
              <a:gd name="adj" fmla="val 41667"/>
            </a:avLst>
          </a:prstGeom>
          <a:solidFill>
            <a:srgbClr val="171A24"/>
          </a:solidFill>
          <a:ln w="12700">
            <a:solidFill>
              <a:srgbClr val="171A2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55848" y="3200400"/>
            <a:ext cx="1252728" cy="109728"/>
          </a:xfrm>
          <a:prstGeom prst="roundRect">
            <a:avLst>
              <a:gd name="adj" fmla="val 41667"/>
            </a:avLst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13639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40%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896112" y="3602736"/>
            <a:ext cx="2377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Respaldo mediante citas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3355848" y="3639312"/>
            <a:ext cx="1252728" cy="109728"/>
          </a:xfrm>
          <a:prstGeom prst="roundRect">
            <a:avLst>
              <a:gd name="adj" fmla="val 41667"/>
            </a:avLst>
          </a:prstGeom>
          <a:solidFill>
            <a:srgbClr val="171A24"/>
          </a:solidFill>
          <a:ln w="12700">
            <a:solidFill>
              <a:srgbClr val="171A2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55848" y="3639312"/>
            <a:ext cx="939546" cy="109728"/>
          </a:xfrm>
          <a:prstGeom prst="roundRect">
            <a:avLst>
              <a:gd name="adj" fmla="val 41667"/>
            </a:avLst>
          </a:prstGeom>
          <a:solidFill>
            <a:srgbClr val="3B82F6">
              <a:alpha val="9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57530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30%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896112" y="4041648"/>
            <a:ext cx="2377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Consistencia entre fuentes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3355848" y="4078224"/>
            <a:ext cx="1252728" cy="109728"/>
          </a:xfrm>
          <a:prstGeom prst="roundRect">
            <a:avLst>
              <a:gd name="adj" fmla="val 41667"/>
            </a:avLst>
          </a:prstGeom>
          <a:solidFill>
            <a:srgbClr val="171A24"/>
          </a:solidFill>
          <a:ln w="12700">
            <a:solidFill>
              <a:srgbClr val="171A2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55848" y="4078224"/>
            <a:ext cx="626364" cy="109728"/>
          </a:xfrm>
          <a:prstGeom prst="roundRect">
            <a:avLst>
              <a:gd name="adj" fmla="val 41667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40142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8B5C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20%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896112" y="4480560"/>
            <a:ext cx="2377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Calidad de extracción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3355848" y="4517136"/>
            <a:ext cx="1252728" cy="109728"/>
          </a:xfrm>
          <a:prstGeom prst="roundRect">
            <a:avLst>
              <a:gd name="adj" fmla="val 41667"/>
            </a:avLst>
          </a:prstGeom>
          <a:solidFill>
            <a:srgbClr val="171A24"/>
          </a:solidFill>
          <a:ln w="12700">
            <a:solidFill>
              <a:srgbClr val="171A24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55848" y="4517136"/>
            <a:ext cx="313182" cy="109728"/>
          </a:xfrm>
          <a:prstGeom prst="roundRect">
            <a:avLst>
              <a:gd name="adj" fmla="val 41667"/>
            </a:avLst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4531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10%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896112" y="4983480"/>
            <a:ext cx="3913632" cy="0"/>
          </a:xfrm>
          <a:prstGeom prst="line">
            <a:avLst/>
          </a:prstGeom>
          <a:noFill/>
          <a:ln w="8890">
            <a:solidFill>
              <a:srgbClr val="2A3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6112" y="5230368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5" spc="25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≥ 0.80  ALTA   /   ≥ 0.60  MEDIA   /   &lt; 0.60  BAJA</a:t>
            </a:r>
            <a:endParaRPr lang="en-US" sz="665" dirty="0"/>
          </a:p>
        </p:txBody>
      </p:sp>
      <p:sp>
        <p:nvSpPr>
          <p:cNvPr id="45" name="Shape 43"/>
          <p:cNvSpPr/>
          <p:nvPr/>
        </p:nvSpPr>
        <p:spPr>
          <a:xfrm>
            <a:off x="5760720" y="2487168"/>
            <a:ext cx="5797296" cy="3127248"/>
          </a:xfrm>
          <a:prstGeom prst="roundRect">
            <a:avLst>
              <a:gd name="adj" fmla="val 2339"/>
            </a:avLst>
          </a:prstGeom>
          <a:solidFill>
            <a:srgbClr val="0A0B0F"/>
          </a:solidFill>
          <a:ln w="8890">
            <a:solidFill>
              <a:srgbClr val="22D3EE">
                <a:alpha val="58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53328" y="276148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spc="110" kern="0" dirty="0">
                <a:solidFill>
                  <a:srgbClr val="F59E0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EJEMPLO SINTÉTICO  /  EVIDENCIA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6053328" y="3136392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11131A"/>
          </a:solidFill>
          <a:ln w="8890">
            <a:solidFill>
              <a:srgbClr val="2A3040">
                <a:alpha val="8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3374136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spc="11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Oferta_B.pdf  ·  página 8  ·  chunk 4f9a</a:t>
            </a:r>
            <a:endParaRPr lang="en-US" sz="670" dirty="0"/>
          </a:p>
        </p:txBody>
      </p:sp>
      <p:sp>
        <p:nvSpPr>
          <p:cNvPr id="49" name="Text 47"/>
          <p:cNvSpPr/>
          <p:nvPr/>
        </p:nvSpPr>
        <p:spPr>
          <a:xfrm>
            <a:off x="6309360" y="36393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“Garantía de 24 meses para equipos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instalados por personal autorizado.”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309360" y="4270248"/>
            <a:ext cx="1417320" cy="256032"/>
          </a:xfrm>
          <a:prstGeom prst="roundRect">
            <a:avLst>
              <a:gd name="adj" fmla="val 42857"/>
            </a:avLst>
          </a:prstGeom>
          <a:solidFill>
            <a:srgbClr val="11221D"/>
          </a:solidFill>
          <a:ln w="889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91656" y="4288536"/>
            <a:ext cx="12527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spc="75" kern="0" dirty="0">
                <a:solidFill>
                  <a:srgbClr val="34D39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CITA LOCALIZABLE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7882128" y="4270248"/>
            <a:ext cx="1280160" cy="256032"/>
          </a:xfrm>
          <a:prstGeom prst="roundRect">
            <a:avLst>
              <a:gd name="adj" fmla="val 42857"/>
            </a:avLst>
          </a:prstGeom>
          <a:solidFill>
            <a:srgbClr val="11131A"/>
          </a:solidFill>
          <a:ln w="889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64424" y="4288536"/>
            <a:ext cx="11155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spc="75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SIN INFERENCIA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6053328" y="479145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spc="110" kern="0" dirty="0">
                <a:solidFill>
                  <a:srgbClr val="F59E0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REGLA DE ORO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6053328" y="5056632"/>
            <a:ext cx="4407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 evidencia, no hay hecho.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 contradicción crítica, hay revisión.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4440" y="-1051560"/>
            <a:ext cx="4892040" cy="2971800"/>
          </a:xfrm>
          <a:prstGeom prst="ellipse">
            <a:avLst/>
          </a:prstGeom>
          <a:solidFill>
            <a:srgbClr val="3B82F6">
              <a:alpha val="4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4754880"/>
            <a:ext cx="4846320" cy="2926080"/>
          </a:xfrm>
          <a:prstGeom prst="ellipse">
            <a:avLst/>
          </a:prstGeom>
          <a:solidFill>
            <a:srgbClr val="22D3EE">
              <a:alpha val="4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8092440" y="-1078992"/>
            <a:ext cx="5303520" cy="2651760"/>
          </a:xfrm>
          <a:prstGeom prst="ellipse">
            <a:avLst/>
          </a:prstGeom>
          <a:solidFill>
            <a:srgbClr val="030303">
              <a:alpha val="0"/>
            </a:srgbClr>
          </a:solidFill>
          <a:ln w="8890">
            <a:solidFill>
              <a:srgbClr val="22D3EE">
                <a:alpha val="2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720000">
            <a:off x="8458200" y="-621792"/>
            <a:ext cx="4663440" cy="2011680"/>
          </a:xfrm>
          <a:prstGeom prst="ellipse">
            <a:avLst/>
          </a:prstGeom>
          <a:solidFill>
            <a:srgbClr val="030303">
              <a:alpha val="0"/>
            </a:srgbClr>
          </a:solidFill>
          <a:ln w="6985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658368"/>
            <a:ext cx="22860" cy="22860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5440680"/>
            <a:ext cx="16459" cy="1645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960120"/>
            <a:ext cx="15545" cy="15545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6053328"/>
            <a:ext cx="24689" cy="2468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530352"/>
            <a:ext cx="14630" cy="14630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987552"/>
            <a:ext cx="21031" cy="21031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2280" y="6080760"/>
            <a:ext cx="16459" cy="1645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79792" y="658368"/>
            <a:ext cx="18288" cy="18288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80192" y="2907792"/>
            <a:ext cx="16459" cy="1645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39728" y="4663440"/>
            <a:ext cx="22860" cy="22860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26080"/>
            <a:ext cx="16459" cy="1645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6364224"/>
            <a:ext cx="18288" cy="18288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56032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ARISTÓTELES  /  SISTEMA MULTIAGENTE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360920" y="256032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spc="8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DEMO SINTÉTICA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75488" y="502920"/>
            <a:ext cx="11228832" cy="0"/>
          </a:xfrm>
          <a:prstGeom prst="line">
            <a:avLst/>
          </a:prstGeom>
          <a:noFill/>
          <a:ln w="6985">
            <a:solidFill>
              <a:srgbClr val="2A3040">
                <a:alpha val="7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11712" y="6483096"/>
            <a:ext cx="301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spc="3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07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03504" y="80467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06  /  DEMO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" y="1097280"/>
            <a:ext cx="7909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Tres proveedores. Un criterio común.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Una decisión que se puede auditar.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21792" y="181965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Ilustración sintética del flujo del MVP: mismos pesos, evidencia localizada y riesgos visibles.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" y="262432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171A24"/>
          </a:solidFill>
          <a:ln w="8890">
            <a:solidFill>
              <a:srgbClr val="2A3040">
                <a:alpha val="7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2734056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spc="35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PROVEEDOR</a:t>
            </a:r>
            <a:endParaRPr lang="en-US" sz="670" dirty="0"/>
          </a:p>
        </p:txBody>
      </p:sp>
      <p:sp>
        <p:nvSpPr>
          <p:cNvPr id="27" name="Shape 25"/>
          <p:cNvSpPr/>
          <p:nvPr/>
        </p:nvSpPr>
        <p:spPr>
          <a:xfrm>
            <a:off x="2926080" y="2624328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171A24"/>
          </a:solidFill>
          <a:ln w="8890">
            <a:solidFill>
              <a:srgbClr val="2A3040">
                <a:alpha val="7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2734056"/>
            <a:ext cx="11155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spc="35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PRECIO</a:t>
            </a:r>
            <a:endParaRPr lang="en-US" sz="670" dirty="0"/>
          </a:p>
        </p:txBody>
      </p:sp>
      <p:sp>
        <p:nvSpPr>
          <p:cNvPr id="29" name="Shape 27"/>
          <p:cNvSpPr/>
          <p:nvPr/>
        </p:nvSpPr>
        <p:spPr>
          <a:xfrm>
            <a:off x="4288536" y="2624328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71A24"/>
          </a:solidFill>
          <a:ln w="8890">
            <a:solidFill>
              <a:srgbClr val="2A3040">
                <a:alpha val="7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9976" y="2734056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spc="35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GARANTÍA</a:t>
            </a:r>
            <a:endParaRPr lang="en-US" sz="670" dirty="0"/>
          </a:p>
        </p:txBody>
      </p:sp>
      <p:sp>
        <p:nvSpPr>
          <p:cNvPr id="31" name="Shape 29"/>
          <p:cNvSpPr/>
          <p:nvPr/>
        </p:nvSpPr>
        <p:spPr>
          <a:xfrm>
            <a:off x="5541264" y="2624328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71A24"/>
          </a:solidFill>
          <a:ln w="8890">
            <a:solidFill>
              <a:srgbClr val="2A3040">
                <a:alpha val="7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32704" y="2734056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spc="35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ENTREGA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6793992" y="2624328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71A24"/>
          </a:solidFill>
          <a:ln w="8890">
            <a:solidFill>
              <a:srgbClr val="2A3040">
                <a:alpha val="7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85432" y="2734056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spc="35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AJUSTE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8046720" y="2624328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71A24"/>
          </a:solidFill>
          <a:ln w="8890">
            <a:solidFill>
              <a:srgbClr val="2A3040">
                <a:alpha val="7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8160" y="2734056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spc="35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RIESGO*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9299448" y="2624328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1221D"/>
          </a:solidFill>
          <a:ln w="8890">
            <a:solidFill>
              <a:srgbClr val="34D399">
                <a:alpha val="72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90888" y="2734056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spc="35" kern="0" dirty="0">
                <a:solidFill>
                  <a:srgbClr val="34D39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TOTAL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621792" y="3081528"/>
            <a:ext cx="2240280" cy="402336"/>
          </a:xfrm>
          <a:prstGeom prst="roundRect">
            <a:avLst>
              <a:gd name="adj" fmla="val 18182"/>
            </a:avLst>
          </a:prstGeom>
          <a:solidFill>
            <a:srgbClr val="11131A"/>
          </a:solidFill>
          <a:ln w="8890">
            <a:solidFill>
              <a:srgbClr val="2A3040">
                <a:alpha val="6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" y="322783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" y="318211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· VERTEX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926080" y="3081528"/>
            <a:ext cx="1298448" cy="402336"/>
          </a:xfrm>
          <a:prstGeom prst="roundRect">
            <a:avLst>
              <a:gd name="adj" fmla="val 18182"/>
            </a:avLst>
          </a:prstGeom>
          <a:solidFill>
            <a:srgbClr val="11131A"/>
          </a:solidFill>
          <a:ln w="8890">
            <a:solidFill>
              <a:srgbClr val="2A3040">
                <a:alpha val="66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99232" y="3182112"/>
            <a:ext cx="1152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288536" y="3081528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11131A"/>
          </a:solidFill>
          <a:ln w="8890">
            <a:solidFill>
              <a:srgbClr val="2A3040">
                <a:alpha val="66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61688" y="3182112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41264" y="3081528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11131A"/>
          </a:solidFill>
          <a:ln w="8890">
            <a:solidFill>
              <a:srgbClr val="2A3040">
                <a:alpha val="66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14416" y="3182112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68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93992" y="3081528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11131A"/>
          </a:solidFill>
          <a:ln w="8890">
            <a:solidFill>
              <a:srgbClr val="2A3040">
                <a:alpha val="66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67144" y="3182112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046720" y="3081528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11131A"/>
          </a:solidFill>
          <a:ln w="8890">
            <a:solidFill>
              <a:srgbClr val="2A3040">
                <a:alpha val="66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19872" y="3182112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58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299448" y="3081528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11131A"/>
          </a:solidFill>
          <a:ln w="8890">
            <a:solidFill>
              <a:srgbClr val="2A3040">
                <a:alpha val="66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72600" y="3182112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74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1792" y="3584448"/>
            <a:ext cx="2240280" cy="402336"/>
          </a:xfrm>
          <a:prstGeom prst="roundRect">
            <a:avLst>
              <a:gd name="adj" fmla="val 18182"/>
            </a:avLst>
          </a:prstGeom>
          <a:solidFill>
            <a:srgbClr val="11131A"/>
          </a:solidFill>
          <a:ln w="8890">
            <a:solidFill>
              <a:srgbClr val="2A3040">
                <a:alpha val="66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0" y="373075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6112" y="368503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· NEXUS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926080" y="3584448"/>
            <a:ext cx="1298448" cy="402336"/>
          </a:xfrm>
          <a:prstGeom prst="roundRect">
            <a:avLst>
              <a:gd name="adj" fmla="val 18182"/>
            </a:avLst>
          </a:prstGeom>
          <a:solidFill>
            <a:srgbClr val="11131A"/>
          </a:solidFill>
          <a:ln w="8890">
            <a:solidFill>
              <a:srgbClr val="2A3040">
                <a:alpha val="66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999232" y="3685032"/>
            <a:ext cx="1152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78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288536" y="3584448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11131A"/>
          </a:solidFill>
          <a:ln w="8890">
            <a:solidFill>
              <a:srgbClr val="2A3040">
                <a:alpha val="66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61688" y="3685032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92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541264" y="3584448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11131A"/>
          </a:solidFill>
          <a:ln w="8890">
            <a:solidFill>
              <a:srgbClr val="2A3040">
                <a:alpha val="66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14416" y="3685032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82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793992" y="3584448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11131A"/>
          </a:solidFill>
          <a:ln w="8890">
            <a:solidFill>
              <a:srgbClr val="2A3040">
                <a:alpha val="66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67144" y="3685032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88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046720" y="3584448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11131A"/>
          </a:solidFill>
          <a:ln w="8890">
            <a:solidFill>
              <a:srgbClr val="2A3040">
                <a:alpha val="66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19872" y="3685032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9299448" y="3584448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11221D"/>
          </a:solidFill>
          <a:ln w="8890">
            <a:solidFill>
              <a:srgbClr val="34D399">
                <a:alpha val="66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372600" y="3685032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84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21792" y="4087368"/>
            <a:ext cx="2240280" cy="402336"/>
          </a:xfrm>
          <a:prstGeom prst="roundRect">
            <a:avLst>
              <a:gd name="adj" fmla="val 18182"/>
            </a:avLst>
          </a:prstGeom>
          <a:solidFill>
            <a:srgbClr val="11131A"/>
          </a:solidFill>
          <a:ln w="8890">
            <a:solidFill>
              <a:srgbClr val="2A3040">
                <a:alpha val="66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31520" y="4233672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6112" y="418795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 · ORBIT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926080" y="4087368"/>
            <a:ext cx="1298448" cy="402336"/>
          </a:xfrm>
          <a:prstGeom prst="roundRect">
            <a:avLst>
              <a:gd name="adj" fmla="val 18182"/>
            </a:avLst>
          </a:prstGeom>
          <a:solidFill>
            <a:srgbClr val="11131A"/>
          </a:solidFill>
          <a:ln w="8890">
            <a:solidFill>
              <a:srgbClr val="2A3040">
                <a:alpha val="66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99232" y="4187952"/>
            <a:ext cx="1152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88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288536" y="4087368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11131A"/>
          </a:solidFill>
          <a:ln w="8890">
            <a:solidFill>
              <a:srgbClr val="2A3040">
                <a:alpha val="66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61688" y="4187952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76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541264" y="4087368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11131A"/>
          </a:solidFill>
          <a:ln w="8890">
            <a:solidFill>
              <a:srgbClr val="2A3040">
                <a:alpha val="66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614416" y="4187952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61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793992" y="4087368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11131A"/>
          </a:solidFill>
          <a:ln w="8890">
            <a:solidFill>
              <a:srgbClr val="2A3040">
                <a:alpha val="66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867144" y="4187952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73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046720" y="4087368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11131A"/>
          </a:solidFill>
          <a:ln w="8890">
            <a:solidFill>
              <a:srgbClr val="2A3040">
                <a:alpha val="66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119872" y="4187952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55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9299448" y="4087368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11131A"/>
          </a:solidFill>
          <a:ln w="8890">
            <a:solidFill>
              <a:srgbClr val="2A3040">
                <a:alpha val="66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372600" y="4187952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71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640080" y="4626864"/>
            <a:ext cx="3474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spc="11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* CONTROL DE RIESGO: MÁS ALTO = MENOR EXPOSICIÓN</a:t>
            </a:r>
            <a:endParaRPr lang="en-US" sz="630" dirty="0"/>
          </a:p>
        </p:txBody>
      </p:sp>
      <p:sp>
        <p:nvSpPr>
          <p:cNvPr id="85" name="Text 83"/>
          <p:cNvSpPr/>
          <p:nvPr/>
        </p:nvSpPr>
        <p:spPr>
          <a:xfrm>
            <a:off x="4133088" y="4626864"/>
            <a:ext cx="7269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30" spc="110" kern="0" dirty="0">
                <a:solidFill>
                  <a:srgbClr val="F59E0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VERTEX: precio sin instalación  ·  NEXUS: sin alerta  ·  ORBIT: plazo no confirmado</a:t>
            </a:r>
            <a:endParaRPr lang="en-US" sz="630" dirty="0"/>
          </a:p>
        </p:txBody>
      </p:sp>
      <p:sp>
        <p:nvSpPr>
          <p:cNvPr id="86" name="Shape 84"/>
          <p:cNvSpPr/>
          <p:nvPr/>
        </p:nvSpPr>
        <p:spPr>
          <a:xfrm>
            <a:off x="621792" y="5029200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11131A"/>
          </a:solidFill>
          <a:ln w="8890">
            <a:solidFill>
              <a:srgbClr val="22D3EE">
                <a:alpha val="66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96112" y="524865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spc="11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RESULTADO DEL MOTOR</a:t>
            </a:r>
            <a:endParaRPr lang="en-US" sz="710" dirty="0"/>
          </a:p>
        </p:txBody>
      </p:sp>
      <p:sp>
        <p:nvSpPr>
          <p:cNvPr id="88" name="Text 86"/>
          <p:cNvSpPr/>
          <p:nvPr/>
        </p:nvSpPr>
        <p:spPr>
          <a:xfrm>
            <a:off x="896112" y="54681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· NEXUS  /  COMPARATIVO 84/100</a:t>
            </a:r>
            <a:endParaRPr lang="en-US" sz="1250" dirty="0"/>
          </a:p>
        </p:txBody>
      </p:sp>
      <p:sp>
        <p:nvSpPr>
          <p:cNvPr id="89" name="Text 87"/>
          <p:cNvSpPr/>
          <p:nvPr/>
        </p:nvSpPr>
        <p:spPr>
          <a:xfrm>
            <a:off x="896112" y="5705856"/>
            <a:ext cx="4709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spc="11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Oferta_B.pdf p.8  ·  Contrato_B.pdf p.3  ·  12 evidencias</a:t>
            </a:r>
            <a:endParaRPr lang="en-US" sz="610" dirty="0"/>
          </a:p>
        </p:txBody>
      </p:sp>
      <p:sp>
        <p:nvSpPr>
          <p:cNvPr id="90" name="Shape 88"/>
          <p:cNvSpPr/>
          <p:nvPr/>
        </p:nvSpPr>
        <p:spPr>
          <a:xfrm>
            <a:off x="6419088" y="5029200"/>
            <a:ext cx="5138928" cy="804672"/>
          </a:xfrm>
          <a:prstGeom prst="roundRect">
            <a:avLst>
              <a:gd name="adj" fmla="val 9091"/>
            </a:avLst>
          </a:prstGeom>
          <a:solidFill>
            <a:srgbClr val="1B1307"/>
          </a:solidFill>
          <a:ln w="889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693408" y="524865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spc="110" kern="0" dirty="0">
                <a:solidFill>
                  <a:srgbClr val="F59E0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NOTA DE AUDITORÍA</a:t>
            </a:r>
            <a:endParaRPr lang="en-US" sz="710" dirty="0"/>
          </a:p>
        </p:txBody>
      </p:sp>
      <p:sp>
        <p:nvSpPr>
          <p:cNvPr id="92" name="Text 90"/>
          <p:cNvSpPr/>
          <p:nvPr/>
        </p:nvSpPr>
        <p:spPr>
          <a:xfrm>
            <a:off x="6693408" y="5486400"/>
            <a:ext cx="4251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Los datos de esta tabla son SINTÉTICOS.</a:t>
            </a:r>
            <a:endParaRPr lang="en-US" sz="11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4440" y="-1051560"/>
            <a:ext cx="4892040" cy="2971800"/>
          </a:xfrm>
          <a:prstGeom prst="ellipse">
            <a:avLst/>
          </a:prstGeom>
          <a:solidFill>
            <a:srgbClr val="3B82F6">
              <a:alpha val="4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4754880"/>
            <a:ext cx="4846320" cy="2926080"/>
          </a:xfrm>
          <a:prstGeom prst="ellipse">
            <a:avLst/>
          </a:prstGeom>
          <a:solidFill>
            <a:srgbClr val="8B5CF6">
              <a:alpha val="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8092440" y="-1078992"/>
            <a:ext cx="5303520" cy="2651760"/>
          </a:xfrm>
          <a:prstGeom prst="ellipse">
            <a:avLst/>
          </a:prstGeom>
          <a:solidFill>
            <a:srgbClr val="030303">
              <a:alpha val="0"/>
            </a:srgbClr>
          </a:solidFill>
          <a:ln w="8890">
            <a:solidFill>
              <a:srgbClr val="8B5CF6">
                <a:alpha val="2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720000">
            <a:off x="8458200" y="-621792"/>
            <a:ext cx="4663440" cy="2011680"/>
          </a:xfrm>
          <a:prstGeom prst="ellipse">
            <a:avLst/>
          </a:prstGeom>
          <a:solidFill>
            <a:srgbClr val="030303">
              <a:alpha val="0"/>
            </a:srgbClr>
          </a:solidFill>
          <a:ln w="6985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658368"/>
            <a:ext cx="22860" cy="22860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5440680"/>
            <a:ext cx="16459" cy="16459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960120"/>
            <a:ext cx="15545" cy="15545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6053328"/>
            <a:ext cx="24689" cy="24689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530352"/>
            <a:ext cx="14630" cy="14630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987552"/>
            <a:ext cx="21031" cy="21031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2280" y="6080760"/>
            <a:ext cx="16459" cy="16459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79792" y="658368"/>
            <a:ext cx="18288" cy="18288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80192" y="2907792"/>
            <a:ext cx="16459" cy="16459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39728" y="4663440"/>
            <a:ext cx="22860" cy="22860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26080"/>
            <a:ext cx="16459" cy="16459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6364224"/>
            <a:ext cx="18288" cy="18288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56032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ARISTÓTELES  /  SISTEMA MULTIAGENTE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360920" y="256032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spc="8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IMPACTO Y PILOTO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75488" y="502920"/>
            <a:ext cx="11228832" cy="0"/>
          </a:xfrm>
          <a:prstGeom prst="line">
            <a:avLst/>
          </a:prstGeom>
          <a:noFill/>
          <a:ln w="6985">
            <a:solidFill>
              <a:srgbClr val="2A3040">
                <a:alpha val="7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11712" y="6483096"/>
            <a:ext cx="301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spc="3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08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03504" y="80467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07  /  IMPACTO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" y="1097280"/>
            <a:ext cx="7909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Mediremos impacto antes de prometerlo.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21792" y="181965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 producto está en implementación: estos son objetivos de piloto y criterios de calidad, no resultados actuales.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" y="2514600"/>
            <a:ext cx="2999232" cy="3127248"/>
          </a:xfrm>
          <a:prstGeom prst="roundRect">
            <a:avLst>
              <a:gd name="adj" fmla="val 2439"/>
            </a:avLst>
          </a:prstGeom>
          <a:solidFill>
            <a:srgbClr val="11131A"/>
          </a:solidFill>
          <a:ln w="8890">
            <a:solidFill>
              <a:srgbClr val="2A3040">
                <a:alpha val="7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279806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HOY  /  BASELINE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96112" y="32095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Manual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96112" y="3913632"/>
            <a:ext cx="50292" cy="50292"/>
          </a:xfrm>
          <a:prstGeom prst="ellipse">
            <a:avLst/>
          </a:prstGeom>
          <a:solidFill>
            <a:srgbClr val="667085"/>
          </a:solidFill>
          <a:ln w="12700">
            <a:solidFill>
              <a:srgbClr val="66708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0704" y="3813048"/>
            <a:ext cx="1892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documentos dispersos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896112" y="4242816"/>
            <a:ext cx="50292" cy="50292"/>
          </a:xfrm>
          <a:prstGeom prst="ellipse">
            <a:avLst/>
          </a:prstGeom>
          <a:solidFill>
            <a:srgbClr val="667085"/>
          </a:solidFill>
          <a:ln w="12700">
            <a:solidFill>
              <a:srgbClr val="66708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0704" y="4142232"/>
            <a:ext cx="1892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criterios tácitos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896112" y="4572000"/>
            <a:ext cx="50292" cy="50292"/>
          </a:xfrm>
          <a:prstGeom prst="ellipse">
            <a:avLst/>
          </a:prstGeom>
          <a:solidFill>
            <a:srgbClr val="667085"/>
          </a:solidFill>
          <a:ln w="12700">
            <a:solidFill>
              <a:srgbClr val="66708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0704" y="4471416"/>
            <a:ext cx="1984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revisión difícil de repetir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896112" y="516636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spc="110" kern="0" dirty="0">
                <a:solidFill>
                  <a:srgbClr val="F59E0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LÍNEA BASE: POR MEDIR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3931920" y="2514600"/>
            <a:ext cx="7635240" cy="3127248"/>
          </a:xfrm>
          <a:prstGeom prst="roundRect">
            <a:avLst>
              <a:gd name="adj" fmla="val 2339"/>
            </a:avLst>
          </a:prstGeom>
          <a:solidFill>
            <a:srgbClr val="0A0B0F"/>
          </a:solidFill>
          <a:ln w="8890">
            <a:solidFill>
              <a:srgbClr val="8B5CF6">
                <a:alpha val="6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24528" y="279806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8B5C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PILOTO  /  OBJETIVOS DE CALIDAD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224528" y="3200400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≥ 90%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276088" y="3218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precisión de citas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5276088" y="34655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hechos con página y fragmento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4224528" y="3858768"/>
            <a:ext cx="2971800" cy="0"/>
          </a:xfrm>
          <a:prstGeom prst="line">
            <a:avLst/>
          </a:prstGeom>
          <a:noFill/>
          <a:ln w="8890">
            <a:solidFill>
              <a:srgbClr val="2A30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17536" y="3200400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≥ 95%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8769096" y="3218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cobertura de criterios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8769096" y="34655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misma matriz para cada proveedor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7717536" y="3858768"/>
            <a:ext cx="2971800" cy="0"/>
          </a:xfrm>
          <a:prstGeom prst="line">
            <a:avLst/>
          </a:prstGeom>
          <a:noFill/>
          <a:ln w="8890">
            <a:solidFill>
              <a:srgbClr val="2A30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24528" y="4224528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5276088" y="42428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afirmaciones respaldadas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5276088" y="44897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 hechos inventados en el reporte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>
            <a:off x="4224528" y="4882896"/>
            <a:ext cx="2971800" cy="0"/>
          </a:xfrm>
          <a:prstGeom prst="line">
            <a:avLst/>
          </a:prstGeom>
          <a:noFill/>
          <a:ln w="8890">
            <a:solidFill>
              <a:srgbClr val="2A30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17536" y="4224528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8769096" y="42428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cruces de datos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8769096" y="44897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aislamiento por usuario y expediente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7717536" y="4882896"/>
            <a:ext cx="2971800" cy="0"/>
          </a:xfrm>
          <a:prstGeom prst="line">
            <a:avLst/>
          </a:prstGeom>
          <a:noFill/>
          <a:ln w="8890">
            <a:solidFill>
              <a:srgbClr val="2A30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619048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spc="11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MÉTRICAS: RECALL DE EVIDENCIA · PRECISIÓN DE CITAS · ABSTENCIÓN · TIEMPO</a:t>
            </a:r>
            <a:endParaRPr lang="en-US" sz="660" dirty="0"/>
          </a:p>
        </p:txBody>
      </p:sp>
      <p:sp>
        <p:nvSpPr>
          <p:cNvPr id="54" name="Text 52"/>
          <p:cNvSpPr/>
          <p:nvPr/>
        </p:nvSpPr>
        <p:spPr>
          <a:xfrm>
            <a:off x="8915400" y="6190488"/>
            <a:ext cx="2651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spc="110" kern="0" dirty="0">
                <a:solidFill>
                  <a:srgbClr val="F59E0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 SON RESULTADOS ACTUALES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4440" y="-1051560"/>
            <a:ext cx="4892040" cy="2971800"/>
          </a:xfrm>
          <a:prstGeom prst="ellipse">
            <a:avLst/>
          </a:prstGeom>
          <a:solidFill>
            <a:srgbClr val="3B82F6">
              <a:alpha val="4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4754880"/>
            <a:ext cx="4846320" cy="2926080"/>
          </a:xfrm>
          <a:prstGeom prst="ellipse">
            <a:avLst/>
          </a:prstGeom>
          <a:solidFill>
            <a:srgbClr val="22D3EE">
              <a:alpha val="4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8092440" y="-1078992"/>
            <a:ext cx="5303520" cy="2651760"/>
          </a:xfrm>
          <a:prstGeom prst="ellipse">
            <a:avLst/>
          </a:prstGeom>
          <a:solidFill>
            <a:srgbClr val="030303">
              <a:alpha val="0"/>
            </a:srgbClr>
          </a:solidFill>
          <a:ln w="8890">
            <a:solidFill>
              <a:srgbClr val="22D3EE">
                <a:alpha val="2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720000">
            <a:off x="8458200" y="-621792"/>
            <a:ext cx="4663440" cy="2011680"/>
          </a:xfrm>
          <a:prstGeom prst="ellipse">
            <a:avLst/>
          </a:prstGeom>
          <a:solidFill>
            <a:srgbClr val="030303">
              <a:alpha val="0"/>
            </a:srgbClr>
          </a:solidFill>
          <a:ln w="6985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658368"/>
            <a:ext cx="22860" cy="22860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5440680"/>
            <a:ext cx="16459" cy="1645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960120"/>
            <a:ext cx="15545" cy="15545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6053328"/>
            <a:ext cx="24689" cy="2468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530352"/>
            <a:ext cx="14630" cy="14630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987552"/>
            <a:ext cx="21031" cy="21031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2280" y="6080760"/>
            <a:ext cx="16459" cy="1645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79792" y="658368"/>
            <a:ext cx="18288" cy="18288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80192" y="2907792"/>
            <a:ext cx="16459" cy="1645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39728" y="4663440"/>
            <a:ext cx="22860" cy="22860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26080"/>
            <a:ext cx="16459" cy="16459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6364224"/>
            <a:ext cx="18288" cy="18288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56032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ARISTÓTELES  /  SISTEMA MULTIAGENTE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360920" y="256032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spc="8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CIERRE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75488" y="502920"/>
            <a:ext cx="11228832" cy="0"/>
          </a:xfrm>
          <a:prstGeom prst="line">
            <a:avLst/>
          </a:prstGeom>
          <a:noFill/>
          <a:ln w="6985">
            <a:solidFill>
              <a:srgbClr val="2A3040">
                <a:alpha val="7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11712" y="6483096"/>
            <a:ext cx="301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spc="3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09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40080" y="932688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08  /  LA IDEA QUE QUEREMOS QUE RECUERDES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" y="1353312"/>
            <a:ext cx="59436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 jurado no necesita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otro chatbot.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03504" y="2560320"/>
            <a:ext cx="6126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Necesita una decisión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 pueda defender.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40080" y="40050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Aristóteles: evidencia antes que elocuencia.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Humano al mando. Riesgo visible.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919472"/>
            <a:ext cx="1234440" cy="256032"/>
          </a:xfrm>
          <a:prstGeom prst="roundRect">
            <a:avLst>
              <a:gd name="adj" fmla="val 42857"/>
            </a:avLst>
          </a:prstGeom>
          <a:solidFill>
            <a:srgbClr val="071C22"/>
          </a:solidFill>
          <a:ln w="889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4937760"/>
            <a:ext cx="10698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spc="75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ARISTÓTELES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2057400" y="4919472"/>
            <a:ext cx="1755648" cy="256032"/>
          </a:xfrm>
          <a:prstGeom prst="roundRect">
            <a:avLst>
              <a:gd name="adj" fmla="val 42857"/>
            </a:avLst>
          </a:prstGeom>
          <a:solidFill>
            <a:srgbClr val="151025"/>
          </a:solidFill>
          <a:ln w="889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39696" y="4937760"/>
            <a:ext cx="15910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spc="75" kern="0" dirty="0">
                <a:solidFill>
                  <a:srgbClr val="8B5C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DECIDE CON EVIDENCIA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839712" y="1170432"/>
            <a:ext cx="4736592" cy="4498848"/>
          </a:xfrm>
          <a:prstGeom prst="roundRect">
            <a:avLst>
              <a:gd name="adj" fmla="val 1626"/>
            </a:avLst>
          </a:prstGeom>
          <a:solidFill>
            <a:srgbClr val="11131A"/>
          </a:solidFill>
          <a:ln w="889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0608" y="150876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ROADMAP DE CONSTRUCCIÓN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187184" y="1975104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37476" y="2084832"/>
            <a:ext cx="0" cy="438912"/>
          </a:xfrm>
          <a:prstGeom prst="line">
            <a:avLst/>
          </a:prstGeom>
          <a:noFill/>
          <a:ln w="11430">
            <a:solidFill>
              <a:srgbClr val="2A3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61504" y="192024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01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973568" y="1883664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Fundación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272016" y="1883664"/>
            <a:ext cx="1901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Auth · RLS · Storage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7187184" y="259689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37476" y="2706624"/>
            <a:ext cx="0" cy="438912"/>
          </a:xfrm>
          <a:prstGeom prst="line">
            <a:avLst/>
          </a:prstGeom>
          <a:noFill/>
          <a:ln w="11430">
            <a:solidFill>
              <a:srgbClr val="2A3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61504" y="254203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3B8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973568" y="2505456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Ingesta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272016" y="2505456"/>
            <a:ext cx="1901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OCR · RAG · evaluación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7187184" y="3218688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37476" y="3328416"/>
            <a:ext cx="0" cy="438912"/>
          </a:xfrm>
          <a:prstGeom prst="line">
            <a:avLst/>
          </a:prstGeom>
          <a:noFill/>
          <a:ln w="11430">
            <a:solidFill>
              <a:srgbClr val="2A3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61504" y="3163824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8B5C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973568" y="3127248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Orquestación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272016" y="3127248"/>
            <a:ext cx="1901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agentes · checkpoints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7187184" y="38404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37476" y="3950208"/>
            <a:ext cx="0" cy="438912"/>
          </a:xfrm>
          <a:prstGeom prst="line">
            <a:avLst/>
          </a:prstGeom>
          <a:noFill/>
          <a:ln w="11430">
            <a:solidFill>
              <a:srgbClr val="2A30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61504" y="378561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F59E0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973568" y="3749040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Decisión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272016" y="3749040"/>
            <a:ext cx="1901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citas · confianza · abstención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7187184" y="4462272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61504" y="440740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34D39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05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973568" y="4370832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7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Entrega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272016" y="4370832"/>
            <a:ext cx="1901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 · PDF · observabilidad</a:t>
            </a:r>
            <a:endParaRPr lang="en-US" sz="840" dirty="0"/>
          </a:p>
        </p:txBody>
      </p:sp>
      <p:sp>
        <p:nvSpPr>
          <p:cNvPr id="56" name="Shape 54"/>
          <p:cNvSpPr/>
          <p:nvPr/>
        </p:nvSpPr>
        <p:spPr>
          <a:xfrm>
            <a:off x="7150608" y="5065776"/>
            <a:ext cx="3950208" cy="0"/>
          </a:xfrm>
          <a:prstGeom prst="line">
            <a:avLst/>
          </a:prstGeom>
          <a:noFill/>
          <a:ln w="8890">
            <a:solidFill>
              <a:srgbClr val="2A304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50608" y="5239512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spc="11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 MEJOR DECISIÓN NO DEBE DEPENDER</a:t>
            </a:r>
            <a:endParaRPr lang="en-US" sz="670" dirty="0"/>
          </a:p>
        </p:txBody>
      </p:sp>
      <p:sp>
        <p:nvSpPr>
          <p:cNvPr id="58" name="Text 56"/>
          <p:cNvSpPr/>
          <p:nvPr/>
        </p:nvSpPr>
        <p:spPr>
          <a:xfrm>
            <a:off x="7150608" y="5458968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spc="110" kern="0" dirty="0">
                <a:solidFill>
                  <a:srgbClr val="F59E0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 QUIÉN LEYÓ EL ANEXO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640080" y="6236208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66708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GRACIAS  /  PREGUNTAS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Aristóteles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Aristóteles — de documentos dispersos a decisiones defendibles</dc:title>
  <dc:subject>Pitch técnico para selección de proveedores respaldada por evidencia</dc:subject>
  <dc:creator>Aristóteles</dc:creator>
  <cp:lastModifiedBy>Aristóteles</cp:lastModifiedBy>
  <cp:revision>1</cp:revision>
  <dcterms:created xsi:type="dcterms:W3CDTF">2026-07-15T19:52:30Z</dcterms:created>
  <dcterms:modified xsi:type="dcterms:W3CDTF">2026-07-15T19:52:30Z</dcterms:modified>
</cp:coreProperties>
</file>